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SIA 2 – Lesson 1: Advanced Enterprise Architecture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Prepared by: Instructor</a:t>
            </a:r>
          </a:p>
          <a:p>
            <a:pPr/>
            <a:r>
              <a:t>2nd Semester, AY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 the end of the lesson, students should be able to:</a:t>
            </a:r>
          </a:p>
          <a:p>
            <a:pPr lvl="1"/>
            <a:r>
              <a:t>Explain the role of enterprise architecture in system integration</a:t>
            </a:r>
          </a:p>
          <a:p>
            <a:pPr lvl="1"/>
            <a:r>
              <a:t>Differentiate the EA domains</a:t>
            </a:r>
          </a:p>
          <a:p>
            <a:pPr lvl="1"/>
            <a:r>
              <a:t>Evaluate EA frameworks for a given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Enterprise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Organizations run dozens of systems that were built at different times by different teams.</a:t>
            </a:r>
          </a:p>
          <a:p>
            <a:pPr/>
            <a:r>
              <a:t>Without a shared blueprint, systems overlap, data is duplicated and integration becomes expensive.</a:t>
            </a:r>
          </a:p>
          <a:p>
            <a:pPr/>
            <a:r>
              <a:t>Enterprise architecture (EA) gives leaders a complete view of how business, data, applications and technology fit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Enterprise Architecture is the practice of analyzing, designing, planning and implementing enterprise analysis to successfully execute business strategies.</a:t>
            </a:r>
          </a:p>
          <a:p>
            <a:pPr/>
            <a:r>
              <a:t>It bridges business goals and IT capabilities.</a:t>
            </a:r>
          </a:p>
          <a:p>
            <a:pPr/>
            <a:r>
              <a:t>EA is not a one-time project; it is a continuous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 Domains (BDAT)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Business Architecture</a:t>
            </a:r>
          </a:p>
          <a:p>
            <a:pPr lvl="1"/>
            <a:r>
              <a:t>Defines strategy, governance, organization and key business processes</a:t>
            </a:r>
          </a:p>
          <a:p>
            <a:pPr/>
            <a:r>
              <a:t>Data Architecture</a:t>
            </a:r>
          </a:p>
          <a:p>
            <a:pPr lvl="1"/>
            <a:r>
              <a:t>Describes the structure of logical and physical data assets and data management resources</a:t>
            </a:r>
          </a:p>
          <a:p>
            <a:pPr/>
            <a:r>
              <a:t>Application Architecture</a:t>
            </a:r>
          </a:p>
          <a:p>
            <a:pPr lvl="1"/>
            <a:r>
              <a:t>Provides a blueprint for individual applications, their interactions and relationships to business processes</a:t>
            </a:r>
          </a:p>
          <a:p>
            <a:pPr/>
            <a:r>
              <a:t>Technology Architecture</a:t>
            </a:r>
          </a:p>
          <a:p>
            <a:pPr lvl="1"/>
            <a:r>
              <a:t>Describes the software and hardware capabilities that support business, data and application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As-Is vs To-Be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Baseline (As-Is) Architecture: the current state of the enterprise</a:t>
            </a:r>
          </a:p>
          <a:p>
            <a:pPr/>
            <a:r>
              <a:t>Target (To-Be) Architecture: the desired future state</a:t>
            </a:r>
          </a:p>
          <a:p>
            <a:pPr/>
            <a:r>
              <a:t>Gap Analysis: identifies what must change to move from baseline to target</a:t>
            </a:r>
          </a:p>
          <a:p>
            <a:pPr/>
            <a:r>
              <a:t>Transition Architecture: an intermediate state between baseline and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EA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TOGAF (The Open Group Architecture Framework)</a:t>
            </a:r>
          </a:p>
          <a:p>
            <a:pPr lvl="1"/>
            <a:r>
              <a:t>Most widely used; centered on the Architecture Development Method (ADM)</a:t>
            </a:r>
          </a:p>
          <a:p>
            <a:pPr/>
            <a:r>
              <a:t>Zachman Framework</a:t>
            </a:r>
          </a:p>
          <a:p>
            <a:pPr lvl="1"/>
            <a:r>
              <a:t>A 6x6 matrix that classifies artifacts by audience and by what, how, where, who, when and why</a:t>
            </a:r>
          </a:p>
          <a:p>
            <a:pPr/>
            <a:r>
              <a:t>FEAF</a:t>
            </a:r>
          </a:p>
          <a:p>
            <a:pPr lvl="1"/>
            <a:r>
              <a:t>Used by the U.S. federal government to standardize IT across agencies</a:t>
            </a:r>
          </a:p>
          <a:p>
            <a:pPr/>
            <a:r>
              <a:t>Gartner EA Framework</a:t>
            </a:r>
          </a:p>
          <a:p>
            <a:pPr lvl="1"/>
            <a:r>
              <a:t>Focuses on business outcomes rather than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TOGAF ADM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Preliminary</a:t>
            </a:r>
          </a:p>
          <a:p>
            <a:pPr/>
            <a:r>
              <a:t>A. Architecture Vision</a:t>
            </a:r>
          </a:p>
          <a:p>
            <a:pPr/>
            <a:r>
              <a:t>B. Business Architecture</a:t>
            </a:r>
          </a:p>
          <a:p>
            <a:pPr/>
            <a:r>
              <a:t>C. Information Systems Architectures</a:t>
            </a:r>
          </a:p>
          <a:p>
            <a:pPr/>
            <a:r>
              <a:t>D. Technology Architecture</a:t>
            </a:r>
          </a:p>
          <a:p>
            <a:pPr/>
            <a:r>
              <a:t>E. Opportunities &amp; Solutions</a:t>
            </a:r>
          </a:p>
          <a:p>
            <a:pPr/>
            <a:r>
              <a:t>F. Migration Planning</a:t>
            </a:r>
          </a:p>
          <a:p>
            <a:pPr/>
            <a:r>
              <a:t>G. Implementation Governance</a:t>
            </a:r>
          </a:p>
          <a:p>
            <a:pPr/>
            <a:r>
              <a:t>H. Architecture Change Management</a:t>
            </a:r>
          </a:p>
          <a:p>
            <a:pPr/>
            <a:r>
              <a:t>Requirements Management sits at the center of the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Stakeholder – any person or group with an interest in the system or its architecture</a:t>
            </a:r>
          </a:p>
          <a:p>
            <a:pPr/>
            <a:r>
              <a:t>Concern – an interest a stakeholder has in the architecture</a:t>
            </a:r>
          </a:p>
          <a:p>
            <a:pPr/>
            <a:r>
              <a:t>View – a representation of a system from the perspective of related concerns</a:t>
            </a:r>
          </a:p>
          <a:p>
            <a:pPr/>
            <a:r>
              <a:t>Viewpoint – the conventions for creating a view</a:t>
            </a:r>
          </a:p>
          <a:p>
            <a:pPr/>
            <a:r>
              <a:t>Artifact – an architectural work product such as a catalog, matrix or diagram</a:t>
            </a:r>
          </a:p>
          <a:p>
            <a:pPr/>
            <a:r>
              <a:t>Architecture Repository – stores all architecture outputs of the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Better alignment of IT investments with business goals</a:t>
            </a:r>
          </a:p>
          <a:p>
            <a:pPr/>
            <a:r>
              <a:t>Reduced complexity and redundancy of systems</a:t>
            </a:r>
          </a:p>
          <a:p>
            <a:pPr/>
            <a:r>
              <a:t>Faster and better decision-making</a:t>
            </a:r>
          </a:p>
          <a:p>
            <a:pPr/>
            <a:r>
              <a:t>Easier integration of new systems</a:t>
            </a:r>
          </a:p>
          <a:p>
            <a:pPr/>
            <a:r>
              <a:t>Lower operating costs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Treating EA as documentation only – diagrams nobody reads</a:t>
            </a:r>
          </a:p>
          <a:p>
            <a:pPr/>
            <a:r>
              <a:t>Lack of executive sponsorship leads to failed EA programs</a:t>
            </a:r>
          </a:p>
          <a:p>
            <a:pPr/>
            <a:r>
              <a:t>Ivory-tower architecture: plans that ignore how people actually work</a:t>
            </a:r>
          </a:p>
          <a:p>
            <a:pPr/>
            <a:r>
              <a:t>Trying to model everything at once causes the effort to stall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 and 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 identifies which systems must exchange data and how.</a:t>
            </a:r>
          </a:p>
          <a:p>
            <a:pPr/>
            <a:r>
              <a:t>Integration patterns such as point-to-point, hub-and-spoke and enterprise service bus are chosen based on the target architecture.</a:t>
            </a:r>
          </a:p>
          <a:p>
            <a:pPr/>
            <a:r>
              <a:t>Point-to-point integration is simpler than an ESB for a few systems, but an ESB is more scalable than point-to-point for many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State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university runs separate enrollment, library, accounting and HR systems.</a:t>
            </a:r>
          </a:p>
          <a:p>
            <a:pPr/>
            <a:r>
              <a:t>Student records are entered three times in different systems.</a:t>
            </a:r>
          </a:p>
          <a:p>
            <a:pPr/>
            <a:r>
              <a:t>The EA team performed a gap analysis and proposed a single student master data source.</a:t>
            </a:r>
          </a:p>
          <a:p>
            <a:pPr/>
            <a:r>
              <a:t>Result: fewer data errors and faster enrollment.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 aligns business and IT through the BDAT domains.</a:t>
            </a:r>
          </a:p>
          <a:p>
            <a:pPr/>
            <a:r>
              <a:t>Frameworks like TOGAF and Zachman guide the work.</a:t>
            </a:r>
          </a:p>
          <a:p>
            <a:pPr/>
            <a:r>
              <a:t>Gap analysis connects the current and target states.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groups, draw the As-Is architecture of your school's enrollment process.</a:t>
            </a:r>
          </a:p>
          <a:p>
            <a:pPr/>
            <a:r>
              <a:t>Identify at least three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